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Shape 175"/>
          <p:cNvSpPr/>
          <p:nvPr>
            <p:ph type="sldImg"/>
          </p:nvPr>
        </p:nvSpPr>
        <p:spPr>
          <a:prstGeom prst="rect">
            <a:avLst/>
          </a:prstGeom>
        </p:spPr>
        <p:txBody>
          <a:bodyPr/>
          <a:lstStyle/>
          <a:p>
            <a:pPr/>
          </a:p>
        </p:txBody>
      </p:sp>
      <p:sp>
        <p:nvSpPr>
          <p:cNvPr id="176" name="Shape 176"/>
          <p:cNvSpPr/>
          <p:nvPr>
            <p:ph type="body" sz="quarter" idx="1"/>
          </p:nvPr>
        </p:nvSpPr>
        <p:spPr>
          <a:prstGeom prst="rect">
            <a:avLst/>
          </a:prstGeom>
        </p:spPr>
        <p:txBody>
          <a:bodyPr/>
          <a:lstStyle/>
          <a:p>
            <a:pPr/>
            <a:r>
              <a:t>Funny-Looking ROC Curve In Real Life: Here the scores were predicted probabilities from a machine learning model that assumed that no score could be a perfect 1; the ones were truncated to zeros. This means the cases that were actually most likely to be positive were given the lowest possible score.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Shape 179"/>
          <p:cNvSpPr/>
          <p:nvPr>
            <p:ph type="sldImg"/>
          </p:nvPr>
        </p:nvSpPr>
        <p:spPr>
          <a:prstGeom prst="rect">
            <a:avLst/>
          </a:prstGeom>
        </p:spPr>
        <p:txBody>
          <a:bodyPr/>
          <a:lstStyle/>
          <a:p>
            <a:pPr/>
          </a:p>
        </p:txBody>
      </p:sp>
      <p:sp>
        <p:nvSpPr>
          <p:cNvPr id="180" name="Shape 180"/>
          <p:cNvSpPr/>
          <p:nvPr>
            <p:ph type="body" sz="quarter" idx="1"/>
          </p:nvPr>
        </p:nvSpPr>
        <p:spPr>
          <a:prstGeom prst="rect">
            <a:avLst/>
          </a:prstGeom>
        </p:spPr>
        <p:txBody>
          <a:bodyPr/>
          <a:lstStyle/>
          <a:p>
            <a:pPr/>
            <a:r>
              <a:t>This post is re-created from a real-life example. A data scientist tried to combine outputs from a model that returned a predicted class and a confidence into a single score. Predicting the actual class from this combined score gave the ROC curve shown by the red line. Combining the original model outputs differently gave the curve shown by the dotted gray line.</a:t>
            </a:r>
          </a:p>
          <a:p>
            <a:pPr/>
          </a:p>
          <a:p>
            <a:pPr/>
            <a:r>
              <a:t>The scores giving the red line were used in a popular scoring service, and it took a long time before anyone noticed this behavior. Part of the reason for this is probably that if you use this kind of score as a predictor in a sophisticated ML model, the model can figure out the relationship between the score and the outcome, and account for the non-monotonicity. Not all ML models do that automatically, however (this would be a problem with simple linear regression, for example).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ummus"/>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Bowl of pappardelle pasta with parsley butter, roasted hazelnuts, and shaved parmesan cheese"/>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7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7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8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10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10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3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Bowl of salad with fried rice, boiled eggs, and chopsticks"/>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45" name="Bowl with salmon cakes, salad, and hummus "/>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46" name="Bowl of pappardelle pasta with parsley butter, roasted hazelnuts, and shaved parmesan chees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bowl of salad with fried rice, boiled eggs, and chopsticks"/>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 Id="rId3" Type="http://schemas.openxmlformats.org/officeDocument/2006/relationships/image" Target="../media/image1.tif"/></Relationships>

</file>

<file path=ppt/slides/_rels/slide3.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png"/><Relationship Id="rId3" Type="http://schemas.openxmlformats.org/officeDocument/2006/relationships/image" Target="../media/image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4.png"/><Relationship Id="rId3" Type="http://schemas.openxmlformats.org/officeDocument/2006/relationships/image" Target="../media/image5.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6.png"/><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Funny-Looking ROC Curves"/>
          <p:cNvSpPr txBox="1"/>
          <p:nvPr>
            <p:ph type="ctrTitle"/>
          </p:nvPr>
        </p:nvSpPr>
        <p:spPr>
          <a:prstGeom prst="rect">
            <a:avLst/>
          </a:prstGeom>
        </p:spPr>
        <p:txBody>
          <a:bodyPr/>
          <a:lstStyle/>
          <a:p>
            <a:pPr/>
            <a:r>
              <a:t>Funny-Looking ROC Curves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3" name="Image" descr="Image"/>
          <p:cNvPicPr>
            <a:picLocks noChangeAspect="1"/>
          </p:cNvPicPr>
          <p:nvPr/>
        </p:nvPicPr>
        <p:blipFill>
          <a:blip r:embed="rId3">
            <a:extLst/>
          </a:blip>
          <a:stretch>
            <a:fillRect/>
          </a:stretch>
        </p:blipFill>
        <p:spPr>
          <a:xfrm>
            <a:off x="5909579" y="177236"/>
            <a:ext cx="12564842" cy="13361528"/>
          </a:xfrm>
          <a:prstGeom prst="rect">
            <a:avLst/>
          </a:prstGeom>
          <a:ln w="12700">
            <a:miter lim="400000"/>
          </a:ln>
        </p:spPr>
      </p:pic>
      <p:sp>
        <p:nvSpPr>
          <p:cNvPr id="174" name="FLC IRL"/>
          <p:cNvSpPr txBox="1"/>
          <p:nvPr/>
        </p:nvSpPr>
        <p:spPr>
          <a:xfrm>
            <a:off x="760901" y="414246"/>
            <a:ext cx="4038791" cy="132906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8100">
                <a:solidFill>
                  <a:schemeClr val="accent5">
                    <a:lumOff val="-29866"/>
                  </a:schemeClr>
                </a:solidFill>
              </a:defRPr>
            </a:lvl1pPr>
          </a:lstStyle>
          <a:p>
            <a:pPr/>
            <a:r>
              <a:t>FLC IRL</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8" name="pasted-movie.png" descr="pasted-movie.png"/>
          <p:cNvPicPr>
            <a:picLocks noChangeAspect="1"/>
          </p:cNvPicPr>
          <p:nvPr/>
        </p:nvPicPr>
        <p:blipFill>
          <a:blip r:embed="rId3">
            <a:extLst/>
          </a:blip>
          <a:stretch>
            <a:fillRect/>
          </a:stretch>
        </p:blipFill>
        <p:spPr>
          <a:xfrm>
            <a:off x="5819464" y="439286"/>
            <a:ext cx="13049446" cy="13144008"/>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2" name="pasted-movie.png" descr="pasted-movie.png"/>
          <p:cNvPicPr>
            <a:picLocks noChangeAspect="1"/>
          </p:cNvPicPr>
          <p:nvPr/>
        </p:nvPicPr>
        <p:blipFill>
          <a:blip r:embed="rId2">
            <a:extLst/>
          </a:blip>
          <a:stretch>
            <a:fillRect/>
          </a:stretch>
        </p:blipFill>
        <p:spPr>
          <a:xfrm>
            <a:off x="96874" y="1122153"/>
            <a:ext cx="20098500" cy="11996511"/>
          </a:xfrm>
          <a:prstGeom prst="rect">
            <a:avLst/>
          </a:prstGeom>
          <a:ln w="12700">
            <a:miter lim="400000"/>
          </a:ln>
        </p:spPr>
      </p:pic>
      <p:pic>
        <p:nvPicPr>
          <p:cNvPr id="183" name="pasted-movie.png" descr="pasted-movie.png"/>
          <p:cNvPicPr>
            <a:picLocks noChangeAspect="1"/>
          </p:cNvPicPr>
          <p:nvPr/>
        </p:nvPicPr>
        <p:blipFill>
          <a:blip r:embed="rId3">
            <a:extLst/>
          </a:blip>
          <a:stretch>
            <a:fillRect/>
          </a:stretch>
        </p:blipFill>
        <p:spPr>
          <a:xfrm>
            <a:off x="11910461" y="963807"/>
            <a:ext cx="12189004" cy="6595641"/>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5" name="pasted-movie.png" descr="pasted-movie.png"/>
          <p:cNvPicPr>
            <a:picLocks noChangeAspect="1"/>
          </p:cNvPicPr>
          <p:nvPr/>
        </p:nvPicPr>
        <p:blipFill>
          <a:blip r:embed="rId2">
            <a:extLst/>
          </a:blip>
          <a:stretch>
            <a:fillRect/>
          </a:stretch>
        </p:blipFill>
        <p:spPr>
          <a:xfrm>
            <a:off x="347724" y="198505"/>
            <a:ext cx="16689326" cy="9383645"/>
          </a:xfrm>
          <a:prstGeom prst="rect">
            <a:avLst/>
          </a:prstGeom>
          <a:ln w="12700">
            <a:miter lim="400000"/>
          </a:ln>
        </p:spPr>
      </p:pic>
      <p:pic>
        <p:nvPicPr>
          <p:cNvPr id="186" name="pasted-movie.png" descr="pasted-movie.png"/>
          <p:cNvPicPr>
            <a:picLocks noChangeAspect="1"/>
          </p:cNvPicPr>
          <p:nvPr/>
        </p:nvPicPr>
        <p:blipFill>
          <a:blip r:embed="rId3">
            <a:extLst/>
          </a:blip>
          <a:stretch>
            <a:fillRect/>
          </a:stretch>
        </p:blipFill>
        <p:spPr>
          <a:xfrm>
            <a:off x="10336828" y="9413685"/>
            <a:ext cx="13042901" cy="3886201"/>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8" name="pasted-movie.png" descr="pasted-movie.png"/>
          <p:cNvPicPr>
            <a:picLocks noChangeAspect="1"/>
          </p:cNvPicPr>
          <p:nvPr/>
        </p:nvPicPr>
        <p:blipFill>
          <a:blip r:embed="rId2">
            <a:extLst/>
          </a:blip>
          <a:stretch>
            <a:fillRect/>
          </a:stretch>
        </p:blipFill>
        <p:spPr>
          <a:xfrm>
            <a:off x="810731" y="766246"/>
            <a:ext cx="10160001" cy="10388601"/>
          </a:xfrm>
          <a:prstGeom prst="rect">
            <a:avLst/>
          </a:prstGeom>
          <a:ln w="12700">
            <a:miter lim="400000"/>
          </a:ln>
        </p:spPr>
      </p:pic>
      <p:sp>
        <p:nvSpPr>
          <p:cNvPr id="189" name="Fig. 1. Two-class distributions resulting in asymmetric ROC curves."/>
          <p:cNvSpPr txBox="1"/>
          <p:nvPr/>
        </p:nvSpPr>
        <p:spPr>
          <a:xfrm>
            <a:off x="2057415" y="11718808"/>
            <a:ext cx="7666633" cy="70411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457200">
              <a:lnSpc>
                <a:spcPct val="100000"/>
              </a:lnSpc>
              <a:spcBef>
                <a:spcPts val="0"/>
              </a:spcBef>
              <a:defRPr sz="1991">
                <a:solidFill>
                  <a:srgbClr val="1B1B1B"/>
                </a:solidFill>
              </a:defRPr>
            </a:lvl1pPr>
          </a:lstStyle>
          <a:p>
            <a:pPr/>
            <a:r>
              <a:t>Fig. 1. Two-class distributions resulting in asymmetric ROC curves.</a:t>
            </a:r>
          </a:p>
        </p:txBody>
      </p:sp>
      <p:pic>
        <p:nvPicPr>
          <p:cNvPr id="190" name="pasted-movie.png" descr="pasted-movie.png"/>
          <p:cNvPicPr>
            <a:picLocks noChangeAspect="1"/>
          </p:cNvPicPr>
          <p:nvPr/>
        </p:nvPicPr>
        <p:blipFill>
          <a:blip r:embed="rId3">
            <a:extLst/>
          </a:blip>
          <a:stretch>
            <a:fillRect/>
          </a:stretch>
        </p:blipFill>
        <p:spPr>
          <a:xfrm>
            <a:off x="13056102" y="3183358"/>
            <a:ext cx="9791701" cy="3898901"/>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